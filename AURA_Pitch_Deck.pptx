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73152" cy="10972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egoe UI"/>
              </a:defRPr>
            </a:pPr>
            <a:r>
              <a:t>NATURALS BEAUTYTECH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AURA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0C0"/>
                </a:solidFill>
                <a:latin typeface="Segoe UI"/>
              </a:defRPr>
            </a:pPr>
            <a:r>
              <a:t>AI-Unified Response Architecture for Salon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4572000" cy="29260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C9A96E"/>
                </a:solidFill>
                <a:latin typeface="Segoe UI"/>
              </a:defRPr>
            </a:pPr>
            <a:r>
              <a:t>TEAM</a:t>
            </a:r>
          </a:p>
          <a:p>
            <a:pPr>
              <a:spcAft>
                <a:spcPts val="400"/>
              </a:spcAft>
              <a:defRPr sz="6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Dhilip S E  |  Full-Stack AI Engineer</a:t>
            </a:r>
          </a:p>
          <a:p>
            <a:pPr>
              <a:spcAft>
                <a:spcPts val="400"/>
              </a:spcAft>
              <a:defRPr sz="6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Solo build: Backend + Frontend + AI Agents + DevOps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Stack: FastAPI + React + PostgreSQL + Gemini AI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Deployed: Vercel + Supabase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1089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C9A96E"/>
                </a:solidFill>
                <a:latin typeface="Segoe UI"/>
              </a:defRPr>
            </a:pPr>
            <a:r>
              <a:t>ALL 6 TRACKS SOLVED</a:t>
            </a:r>
          </a:p>
          <a:p>
            <a:pPr>
              <a:spcAft>
                <a:spcPts val="400"/>
              </a:spcAft>
              <a:defRPr sz="6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DD4BF"/>
                </a:solidFill>
                <a:latin typeface="Segoe UI"/>
              </a:defRPr>
            </a:pPr>
            <a:r>
              <a:t>Track 1  Service Standardization &amp; Quality</a:t>
            </a:r>
          </a:p>
          <a:p>
            <a:pPr>
              <a:spcAft>
                <a:spcPts val="400"/>
              </a:spcAft>
              <a:defRPr sz="1300" b="0">
                <a:solidFill>
                  <a:srgbClr val="60A5FA"/>
                </a:solidFill>
                <a:latin typeface="Segoe UI"/>
              </a:defRPr>
            </a:pPr>
            <a:r>
              <a:t>Track 2  Staff Dependency &amp; Development</a:t>
            </a:r>
          </a:p>
          <a:p>
            <a:pPr>
              <a:spcAft>
                <a:spcPts val="400"/>
              </a:spcAft>
              <a:defRPr sz="1300" b="0">
                <a:solidFill>
                  <a:srgbClr val="F44F9A"/>
                </a:solidFill>
                <a:latin typeface="Segoe UI"/>
              </a:defRPr>
            </a:pPr>
            <a:r>
              <a:t>Track 3  Hyper-Personalized Beauty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Segoe UI"/>
              </a:defRPr>
            </a:pPr>
            <a:r>
              <a:t>Track 4  AI Trend Prediction &amp; Inventory</a:t>
            </a:r>
          </a:p>
          <a:p>
            <a:pPr>
              <a:spcAft>
                <a:spcPts val="400"/>
              </a:spcAft>
              <a:defRPr sz="1300" b="0">
                <a:solidFill>
                  <a:srgbClr val="34D399"/>
                </a:solidFill>
                <a:latin typeface="Segoe UI"/>
              </a:defRPr>
            </a:pPr>
            <a:r>
              <a:t>Track 5  Customer Experience Optimization</a:t>
            </a:r>
          </a:p>
          <a:p>
            <a:pPr>
              <a:spcAft>
                <a:spcPts val="400"/>
              </a:spcAft>
              <a:defRPr sz="1300" b="0">
                <a:solidFill>
                  <a:srgbClr val="A78BFA"/>
                </a:solidFill>
                <a:latin typeface="Segoe UI"/>
              </a:defRPr>
            </a:pPr>
            <a:r>
              <a:t>Track 6  Salon Business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60350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6172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D4BF"/>
                </a:solidFill>
                <a:latin typeface="Segoe U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325880" y="6492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6949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AI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60350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6172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44F9A"/>
                </a:solidFill>
                <a:latin typeface="Segoe U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886200" y="6492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60+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6949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Problems 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60350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6172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0A5FA"/>
                </a:solidFill>
                <a:latin typeface="Segoe U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46520" y="6492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6949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Intelligence Modules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60350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6172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9A96E"/>
                </a:solidFill>
                <a:latin typeface="Segoe U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006840" y="6492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6949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API Endpoints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750 Salons. Zero Connected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99"/>
                </a:solidFill>
                <a:latin typeface="Segoe UI"/>
              </a:defRPr>
            </a:pPr>
            <a:r>
              <a:t>Every salon operates as an isolated island — no shared data, no AI, no standardization.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44F9A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Inconsistent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Same service, different results at</a:t>
            </a:r>
            <a:br/>
            <a:r>
              <a:t>every branch. No SOP tracking,</a:t>
            </a:r>
            <a:br/>
            <a:r>
              <a:t>no quality measurement.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031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240280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0A5FA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Staff = Single Point of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017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When a stylist leaves, customers</a:t>
            </a:r>
            <a:br/>
            <a:r>
              <a:t>follow. Zero knowledge retention.</a:t>
            </a:r>
            <a:br/>
            <a:r>
              <a:t>No transition planning.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21031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2240280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D4BF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Generic Experiences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3017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Every customer gets the same</a:t>
            </a:r>
            <a:br/>
            <a:r>
              <a:t>treatment. No personalization for</a:t>
            </a:r>
            <a:br/>
            <a:r>
              <a:t>hair type, skin, mood, or climate.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80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BBF24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Blind to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Trends emerge on social media.</a:t>
            </a:r>
            <a:br/>
            <a:r>
              <a:t>Salons discover them months late.</a:t>
            </a:r>
            <a:br/>
            <a:r>
              <a:t>Inventory misaligned, staff untrained.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3891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4526280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4D399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800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Broken Customer 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5303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No follow-up after service. Long</a:t>
            </a:r>
            <a:br/>
            <a:r>
              <a:t>waits with no engagement. No-shows</a:t>
            </a:r>
            <a:br/>
            <a:r>
              <a:t>with no recovery. Language barriers.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9" y="43891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4526280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78BFA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4800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No Business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5303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750 locations, zero visibility.</a:t>
            </a:r>
            <a:br/>
            <a:r>
              <a:t>Can't benchmark, can't predict</a:t>
            </a:r>
            <a:br/>
            <a:r>
              <a:t>churn, can't measure training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egoe UI"/>
              </a:defRPr>
            </a:pPr>
            <a:r>
              <a:t>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Why the Same Mistakes Repeat Every Month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4F9A"/>
                </a:solidFill>
                <a:latin typeface="Segoe UI"/>
              </a:defRPr>
            </a:pPr>
            <a:r>
              <a:t>1. DATA SILOS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Each salon uses paper/Excel.</a:t>
            </a:r>
            <a:br/>
            <a:r>
              <a:t>No shared database across</a:t>
            </a:r>
            <a:br/>
            <a:r>
              <a:t>750 locations.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86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44F9A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4F9A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Customer history, preferences,</a:t>
            </a:r>
            <a:br/>
            <a:r>
              <a:t>allergies lost between visits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Segoe UI"/>
              </a:defRPr>
            </a:pPr>
            <a:r>
              <a:t>2. NO AI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231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Zero intelligent automation.</a:t>
            </a:r>
            <a:br/>
            <a:r>
              <a:t>Every decision is manual,</a:t>
            </a:r>
            <a:br/>
            <a:r>
              <a:t>inconsistent, slow.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886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0A5FA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2976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43891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7091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Stylists rely on memory.</a:t>
            </a:r>
            <a:br/>
            <a:r>
              <a:t>Managers rely on gut feeling.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D4BF"/>
                </a:solidFill>
                <a:latin typeface="Segoe UI"/>
              </a:defRPr>
            </a:pPr>
            <a:r>
              <a:t>3. NO STANDARDIZATION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SOPs exist on paper but</a:t>
            </a:r>
            <a:br/>
            <a:r>
              <a:t>no tracking, no compliance</a:t>
            </a:r>
            <a:br/>
            <a:r>
              <a:t>measurement, no alerts.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86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D4BF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2976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3891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Same haircut = different quality</a:t>
            </a:r>
            <a:br/>
            <a:r>
              <a:t>at different branches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182880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965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4. REACTIVE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4231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Problems discovered after</a:t>
            </a:r>
            <a:br/>
            <a:r>
              <a:t>customer complaints. No</a:t>
            </a:r>
            <a:br/>
            <a:r>
              <a:t>prediction, no prevention.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886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BBF24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42976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43891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47091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9"/>
                </a:solidFill>
                <a:latin typeface="Segoe UI"/>
              </a:defRPr>
            </a:pPr>
            <a:r>
              <a:t>Trends missed, staff churn</a:t>
            </a:r>
            <a:br/>
            <a:r>
              <a:t>surprises, inventory stockouts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603504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A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Segoe UI"/>
              </a:defRPr>
            </a:pPr>
            <a:r>
              <a:t>RESULT:  Naturals loses customers, revenue, and competitive edge every single day these problems go unsolved.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AURA — One Platform. 8 AI Modules. 60 Problems Solved.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9"/>
                </a:solidFill>
                <a:latin typeface="Segoe UI"/>
              </a:defRPr>
            </a:pPr>
            <a:r>
              <a:t>AI-Unified Response Architecture  |  63 Intelligent Agents  |  Real-time Intelligence for Every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Segoe UI"/>
              </a:defRPr>
            </a:pPr>
            <a:r>
              <a:t>📋 Beauty Passport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Lifelong digital beauty identity.</a:t>
            </a:r>
            <a:br/>
            <a:r>
              <a:t>Hair + skin diagnostics, allergies,</a:t>
            </a:r>
            <a:br/>
            <a:r>
              <a:t>lifestyle, goals, service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10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9202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0574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4F9A"/>
                </a:solidFill>
                <a:latin typeface="Segoe UI"/>
              </a:defRPr>
            </a:pPr>
            <a:r>
              <a:t>🧠 SOULSKIN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688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World's first emotion-to-beauty</a:t>
            </a:r>
            <a:br/>
            <a:r>
              <a:t>system. 5 archetypes. Poetic soul</a:t>
            </a:r>
            <a:br/>
            <a:r>
              <a:t>readings. Sensory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3703320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4F9A"/>
                </a:solidFill>
                <a:latin typeface="Segoe UI"/>
              </a:defRPr>
            </a:pPr>
            <a:r>
              <a:t>Integrated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202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Segoe UI"/>
              </a:defRPr>
            </a:pPr>
            <a:r>
              <a:t>🪞 AR Smart Mirror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Virtual try-on for hairstyles,</a:t>
            </a:r>
            <a:br/>
            <a:r>
              <a:t>colors, makeup. MediaPipe +</a:t>
            </a:r>
            <a:br/>
            <a:r>
              <a:t>WebGL real-time rendering.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703320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Segoe UI"/>
              </a:defRPr>
            </a:pPr>
            <a:r>
              <a:t>3D 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9202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0574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🎯 AI Stylist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4688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Real-time SOP guidance. Step-by-</a:t>
            </a:r>
            <a:br/>
            <a:r>
              <a:t>step coaching. Chemical safety</a:t>
            </a:r>
            <a:br/>
            <a:r>
              <a:t>gates. Rush detection.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3703320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12 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8912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📈 Trend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377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6-week early detection. Celebrity</a:t>
            </a:r>
            <a:br/>
            <a:r>
              <a:t>radar. Regional mapping. Inventory</a:t>
            </a:r>
            <a:br/>
            <a:r>
              <a:t>prediction. Campaign recs.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172200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172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11 agents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438912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4526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👥 Staff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9377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Attrition prediction. Skill mapping.</a:t>
            </a:r>
            <a:br/>
            <a:r>
              <a:t>Career paths. Knowledge capture.</a:t>
            </a:r>
            <a:br/>
            <a:r>
              <a:t>Client transition planning.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6172200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6172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11 agents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38912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526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Segoe UI"/>
              </a:defRPr>
            </a:pPr>
            <a:r>
              <a:t>✨ Experience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9377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Smart waiting. Follow-ups. Real-time</a:t>
            </a:r>
            <a:br/>
            <a:r>
              <a:t>transparency. No-show recovery.</a:t>
            </a:r>
            <a:br/>
            <a:r>
              <a:t>Ambient intelligence.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6172200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6172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10 agents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438912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600" y="4526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egoe UI"/>
              </a:defRPr>
            </a:pPr>
            <a:r>
              <a:t>📊 Salon BI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9377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Franchise-wide analytics. LTV</a:t>
            </a:r>
            <a:br/>
            <a:r>
              <a:t>modeling. Branch health prediction.</a:t>
            </a:r>
            <a:br/>
            <a:r>
              <a:t>Training ROI. Portfolio optimizer.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6172200"/>
            <a:ext cx="1097280" cy="27432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6172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Segoe UI"/>
              </a:defRPr>
            </a:pPr>
            <a:r>
              <a:t>10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From Concept to Pilot in 4 Weeks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E"/>
                </a:solidFill>
                <a:latin typeface="Segoe UI"/>
              </a:defRPr>
            </a:pPr>
            <a:r>
              <a:t>TECH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FRONTEND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React 19 + TypeScript + Vite 8 + PWA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TanStack Query + Zustand + Framer Motion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Recharts + Three.js + MediaPipe AR</a:t>
            </a:r>
          </a:p>
          <a:p>
            <a:pPr>
              <a:spcAft>
                <a:spcPts val="400"/>
              </a:spcAft>
              <a:defRPr sz="8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60A5FA"/>
                </a:solidFill>
                <a:latin typeface="Segoe UI"/>
              </a:defRPr>
            </a:pPr>
            <a:r>
              <a:t>BACKEND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FastAPI (100% async) + SQLAlchemy 2.0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63 AI Agents across 6 tracks (9,729 LOC)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JWT Auth + RBAC (6 roles) + Celery tasks</a:t>
            </a:r>
          </a:p>
          <a:p>
            <a:pPr>
              <a:spcAft>
                <a:spcPts val="400"/>
              </a:spcAft>
              <a:defRPr sz="8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44F9A"/>
                </a:solidFill>
                <a:latin typeface="Segoe UI"/>
              </a:defRPr>
            </a:pPr>
            <a:r>
              <a:t>DATA &amp; AI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PostgreSQL (Supabase) + Redis cache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Google Gemini 2.0 Flash (SOULSKIN AI)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30 database models + ACID compliant</a:t>
            </a:r>
          </a:p>
          <a:p>
            <a:pPr>
              <a:spcAft>
                <a:spcPts val="400"/>
              </a:spcAft>
              <a:defRPr sz="8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DEPLOYMENT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Vercel (frontend + backend serverless)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Supabase (PostgreSQL + Storage + Auth)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PWA: installable, offline-ready, push notifs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E"/>
                </a:solidFill>
                <a:latin typeface="Segoe UI"/>
              </a:defRPr>
            </a:pPr>
            <a:r>
              <a:t>4-WEEK PILOT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677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Segoe UI"/>
              </a:defRPr>
            </a:pPr>
            <a:r>
              <a:t>WEEK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603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Database setup + Auth + Core models</a:t>
            </a:r>
            <a:br/>
            <a:r>
              <a:t>User roles (6 types) + Location setup</a:t>
            </a:r>
            <a:br/>
            <a:r>
              <a:t>Beauty Passport + Customer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3192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Segoe UI"/>
              </a:defRPr>
            </a:pPr>
            <a:r>
              <a:t>WEEK 2: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6118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63 AI agents deployed across 6 tracks</a:t>
            </a:r>
            <a:br/>
            <a:r>
              <a:t>SOULSKIN engine + AR Mirror</a:t>
            </a:r>
            <a:br/>
            <a:r>
              <a:t>SOP tracking + Quality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389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3708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WEEK 3: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6634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Smart queue + Follow-ups + Feedback</a:t>
            </a:r>
            <a:br/>
            <a:r>
              <a:t>Trend detection + Inventory prediction</a:t>
            </a:r>
            <a:br/>
            <a:r>
              <a:t>BI dashboard +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4406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42239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Segoe UI"/>
              </a:defRPr>
            </a:pPr>
            <a:r>
              <a:t>WEEK 4: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71499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Segoe UI"/>
              </a:defRPr>
            </a:pPr>
            <a:r>
              <a:t>Vercel deployment + Supabase cloud</a:t>
            </a:r>
            <a:br/>
            <a:r>
              <a:t>PWA optimization + Push notifications</a:t>
            </a:r>
            <a:br/>
            <a:r>
              <a:t>Pilot salon onboarding +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egoe UI"/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Every Metric That Moves the Bottom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BF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SOP Compliance</a:t>
            </a:r>
            <a:br/>
            <a:r>
              <a:t>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Real-time step-by-step</a:t>
            </a:r>
            <a:br/>
            <a:r>
              <a:t>guidance with deviation</a:t>
            </a:r>
            <a:br/>
            <a:r>
              <a:t>alerts + quality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4F9A"/>
                </a:solidFill>
                <a:latin typeface="Segoe UI"/>
              </a:defRPr>
            </a:pPr>
            <a:r>
              <a:t>+40%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Repeat</a:t>
            </a:r>
            <a:br/>
            <a:r>
              <a:t>Bookings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Personalized beauty</a:t>
            </a:r>
            <a:br/>
            <a:r>
              <a:t>passport + journey plans</a:t>
            </a:r>
            <a:br/>
            <a:r>
              <a:t>+ smart follow-ups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BF24"/>
                </a:solidFill>
                <a:latin typeface="Segoe UI"/>
              </a:defRPr>
            </a:pPr>
            <a:r>
              <a:t>6 wks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Early Trend</a:t>
            </a:r>
            <a:br/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Social + celebrity radar</a:t>
            </a:r>
            <a:br/>
            <a:r>
              <a:t>with regional mapping</a:t>
            </a:r>
            <a:br/>
            <a:r>
              <a:t>+ inventory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55448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Client Retention</a:t>
            </a:r>
            <a:br/>
            <a:r>
              <a:t>on Staff Exit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AI transition plans match</a:t>
            </a:r>
            <a:br/>
            <a:r>
              <a:t>customers to replacement</a:t>
            </a:r>
            <a:br/>
            <a:r>
              <a:t>stylists by skill +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6052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  <a:latin typeface="Segoe UI"/>
              </a:defRPr>
            </a:pPr>
            <a:r>
              <a:t>+35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NPS Score</a:t>
            </a:r>
            <a:br/>
            <a:r>
              <a:t>Improvement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Smart waiting + real-time</a:t>
            </a:r>
            <a:br/>
            <a:r>
              <a:t>transparency + micro-</a:t>
            </a:r>
            <a:br/>
            <a:r>
              <a:t>feedback + ambient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16052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78BFA"/>
                </a:solidFill>
                <a:latin typeface="Segoe UI"/>
              </a:defRPr>
            </a:pPr>
            <a:r>
              <a:t>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Margin</a:t>
            </a:r>
            <a:br/>
            <a:r>
              <a:t>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532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BI dashboard + LTV</a:t>
            </a:r>
            <a:br/>
            <a:r>
              <a:t>modeling + portfolio</a:t>
            </a:r>
            <a:br/>
            <a:r>
              <a:t>optimizer + training ROI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16052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9A96E"/>
                </a:solidFill>
                <a:latin typeface="Segoe UI"/>
              </a:defRPr>
            </a:pPr>
            <a:r>
              <a:t>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Staff Retention</a:t>
            </a:r>
            <a:br/>
            <a:r>
              <a:t>Boost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532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Career path visibility +</a:t>
            </a:r>
            <a:br/>
            <a:r>
              <a:t>attrition risk alerts +</a:t>
            </a:r>
            <a:br/>
            <a:r>
              <a:t>knowledge capture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416052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$500K+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Annual Savings</a:t>
            </a:r>
            <a:br/>
            <a:r>
              <a:t>Identified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532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Inventory optimization +</a:t>
            </a:r>
            <a:br/>
            <a:r>
              <a:t>waste reduction + smart</a:t>
            </a:r>
            <a:br/>
            <a:r>
              <a:t>scheduling + upsells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egoe UI"/>
              </a:defRPr>
            </a:pPr>
            <a:r>
              <a:t>SCALABILITY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Built for 1 Salon Today. Ready for 1,000 Tomorrow.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E"/>
                </a:solidFill>
                <a:latin typeface="Segoe UI"/>
              </a:defRPr>
            </a:pPr>
            <a:r>
              <a:t>SCALABILITY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SERVERLESS COMPUTE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Vercel Edge Functions — auto-scales to demand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Zero server management, pay-per-invocation</a:t>
            </a:r>
          </a:p>
          <a:p>
            <a:pPr>
              <a:spcAft>
                <a:spcPts val="400"/>
              </a:spcAft>
              <a:defRPr sz="8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60A5FA"/>
                </a:solidFill>
                <a:latin typeface="Segoe UI"/>
              </a:defRPr>
            </a:pPr>
            <a:r>
              <a:t>DATABASE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Supabase PostgreSQL with connection pooling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30 models with ACID compliance + row-level security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Read replicas ready for 750+ concurrent locations</a:t>
            </a:r>
          </a:p>
          <a:p>
            <a:pPr>
              <a:spcAft>
                <a:spcPts val="400"/>
              </a:spcAft>
              <a:defRPr sz="8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BBF24"/>
                </a:solidFill>
                <a:latin typeface="Segoe UI"/>
              </a:defRPr>
            </a:pPr>
            <a:r>
              <a:t>CACHING &amp; PERFORMANCE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Redis for sessions, queues, rate limiting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PWA with service workers — offline-first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CDN-served static assets via Vercel Edge</a:t>
            </a:r>
          </a:p>
          <a:p>
            <a:pPr>
              <a:spcAft>
                <a:spcPts val="400"/>
              </a:spcAft>
              <a:defRPr sz="8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MULTI-TENANCY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Location-scoped data isolation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Role-based access: 6 roles with granular permissions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Franchise → Regional → Location hierarchy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E"/>
                </a:solidFill>
                <a:latin typeface="Segoe UI"/>
              </a:defRPr>
            </a:pPr>
            <a:r>
              <a:t>DATA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30 INTERCONNECTED MODELS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Complete salon ecosystem in one unified schema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Customer → Booking → Session → Quality → Feedback</a:t>
            </a:r>
          </a:p>
          <a:p>
            <a:pPr>
              <a:spcAft>
                <a:spcPts val="400"/>
              </a:spcAft>
              <a:defRPr sz="8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44F9A"/>
                </a:solidFill>
                <a:latin typeface="Segoe UI"/>
              </a:defRPr>
            </a:pPr>
            <a:r>
              <a:t>AI DATA PIPELINE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Every interaction feeds 63 AI agents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Trend signals from social + bookings + weather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Predictive models improve with every service</a:t>
            </a:r>
          </a:p>
          <a:p>
            <a:pPr>
              <a:spcAft>
                <a:spcPts val="400"/>
              </a:spcAft>
              <a:defRPr sz="8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A78BFA"/>
                </a:solidFill>
                <a:latin typeface="Segoe UI"/>
              </a:defRPr>
            </a:pPr>
            <a:r>
              <a:t>PRIVACY &amp; COMPLIANCE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GDPR / India DPDP Act compliant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UUID keys prevent enumeration attacks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Bcrypt hashing + JWT + KMS encryption</a:t>
            </a:r>
          </a:p>
          <a:p>
            <a:pPr>
              <a:spcAft>
                <a:spcPts val="400"/>
              </a:spcAft>
              <a:defRPr sz="800" b="0">
                <a:solidFill>
                  <a:srgbClr val="808099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BBF24"/>
                </a:solidFill>
                <a:latin typeface="Segoe UI"/>
              </a:defRPr>
            </a:pPr>
            <a:r>
              <a:t>REAL-TIME INTELLIGENCE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Live queue, transparency feed, micro-feedback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Climate-aware recommendations (weather API)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6 languages: EN, Tamil, Hindi, Telugu, Kannada, 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6 Months from Prototype to Network Rollout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94560" y="1737360"/>
            <a:ext cx="731520" cy="32004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0279" y="1737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MONTH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D4BF"/>
                </a:solidFill>
                <a:latin typeface="Segoe UI"/>
              </a:defRPr>
            </a:pPr>
            <a: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Single salon deployment</a:t>
            </a:r>
            <a:br/>
            <a:r>
              <a:t>3-5 stylists onboarded</a:t>
            </a:r>
            <a:br/>
            <a:r>
              <a:t>Beauty Passport + SOULSKIN</a:t>
            </a:r>
            <a:br/>
            <a:r>
              <a:t>SOP tracking + Quality scoring</a:t>
            </a:r>
            <a:br/>
            <a:r>
              <a:t>Customer feedback collection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1737360"/>
            <a:ext cx="731520" cy="32004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1737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0A5FA"/>
                </a:solidFill>
                <a:latin typeface="Segoe UI"/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MONTH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0A5FA"/>
                </a:solidFill>
                <a:latin typeface="Segoe UI"/>
              </a:defRPr>
            </a:pPr>
            <a: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Measure all 8 modules</a:t>
            </a:r>
            <a:br/>
            <a:r>
              <a:t>A/B test vs. control salon</a:t>
            </a:r>
            <a:br/>
            <a:r>
              <a:t>Staff training effectiveness</a:t>
            </a:r>
            <a:br/>
            <a:r>
              <a:t>Customer satisfaction delta</a:t>
            </a:r>
            <a:br/>
            <a:r>
              <a:t>BI dashboard calibration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737360"/>
            <a:ext cx="731520" cy="32004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39" y="1737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MONTH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  <a:latin typeface="Segoe UI"/>
              </a:defRPr>
            </a:pPr>
            <a:r>
              <a:t>EXPAND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5 salons across 2 cities</a:t>
            </a:r>
            <a:br/>
            <a:r>
              <a:t>Regional trend mapping live</a:t>
            </a:r>
            <a:br/>
            <a:r>
              <a:t>Cross-location benchmarking</a:t>
            </a:r>
            <a:br/>
            <a:r>
              <a:t>Franchise BI dashboard</a:t>
            </a:r>
            <a:br/>
            <a:r>
              <a:t>Attrition prediction 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64592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0" y="1737360"/>
            <a:ext cx="731520" cy="320040"/>
          </a:xfrm>
          <a:prstGeom prst="roundRect">
            <a:avLst>
              <a:gd name="adj" fmla="val 5000"/>
            </a:avLst>
          </a:prstGeom>
          <a:solidFill>
            <a:srgbClr val="25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18519" y="1737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9"/>
                </a:solidFill>
                <a:latin typeface="Segoe UI"/>
              </a:defRPr>
            </a:pPr>
            <a:r>
              <a:t>MONTH 5-6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  <a:latin typeface="Segoe UI"/>
              </a:defRPr>
            </a:pPr>
            <a: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50+ salons network-wide</a:t>
            </a:r>
            <a:br/>
            <a:r>
              <a:t>Full trend intelligence</a:t>
            </a:r>
            <a:br/>
            <a:r>
              <a:t>AR Mirror in flagship stores</a:t>
            </a:r>
            <a:br/>
            <a:r>
              <a:t>Digital Beauty Twin launch</a:t>
            </a:r>
            <a:br/>
            <a:r>
              <a:t>Mobile app release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760720"/>
            <a:ext cx="11430000" cy="822960"/>
          </a:xfrm>
          <a:prstGeom prst="roundRect">
            <a:avLst>
              <a:gd name="adj" fmla="val 5000"/>
            </a:avLst>
          </a:prstGeom>
          <a:solidFill>
            <a:srgbClr val="1A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9A96E"/>
                </a:solidFill>
                <a:latin typeface="Segoe UI"/>
              </a:defRPr>
            </a:pPr>
            <a:r>
              <a:t>AURA is not a concept — it's built, deployed, and ready for pilot.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63 agents  ·  8 modules  ·  60+ problems  ·  All 6 tracks  ·  One unified platform  ·  Built by one engineer.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